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sldIdLst>
    <p:sldId id="256" r:id="rId2"/>
    <p:sldId id="278" r:id="rId3"/>
    <p:sldId id="279" r:id="rId4"/>
    <p:sldId id="364" r:id="rId5"/>
    <p:sldId id="352" r:id="rId6"/>
    <p:sldId id="353" r:id="rId7"/>
    <p:sldId id="358" r:id="rId8"/>
    <p:sldId id="360" r:id="rId9"/>
    <p:sldId id="361" r:id="rId10"/>
    <p:sldId id="362" r:id="rId11"/>
    <p:sldId id="363" r:id="rId12"/>
    <p:sldId id="350" r:id="rId13"/>
    <p:sldId id="366" r:id="rId14"/>
    <p:sldId id="367" r:id="rId15"/>
    <p:sldId id="356" r:id="rId16"/>
    <p:sldId id="355" r:id="rId17"/>
    <p:sldId id="354" r:id="rId18"/>
    <p:sldId id="35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00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146"/>
    <p:restoredTop sz="94733"/>
  </p:normalViewPr>
  <p:slideViewPr>
    <p:cSldViewPr snapToGrid="0">
      <p:cViewPr varScale="1">
        <p:scale>
          <a:sx n="94" d="100"/>
          <a:sy n="94" d="100"/>
        </p:scale>
        <p:origin x="20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5F0A8-E599-684F-9565-E96640FA31F7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179AB9-0DDB-5D40-AEAC-E7748B25B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230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79AB9-0DDB-5D40-AEAC-E7748B25BA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637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79AB9-0DDB-5D40-AEAC-E7748B25BA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30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79AB9-0DDB-5D40-AEAC-E7748B25BA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94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79AB9-0DDB-5D40-AEAC-E7748B25BA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1943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79AB9-0DDB-5D40-AEAC-E7748B25BAA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370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79AB9-0DDB-5D40-AEAC-E7748B25BA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303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79AB9-0DDB-5D40-AEAC-E7748B25BA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5506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79AB9-0DDB-5D40-AEAC-E7748B25BAA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521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79AB9-0DDB-5D40-AEAC-E7748B25BAA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0599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79AB9-0DDB-5D40-AEAC-E7748B25BAA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181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79AB9-0DDB-5D40-AEAC-E7748B25BAA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7884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79AB9-0DDB-5D40-AEAC-E7748B25BAA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132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79AB9-0DDB-5D40-AEAC-E7748B25BAA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3367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79AB9-0DDB-5D40-AEAC-E7748B25BAA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3881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79AB9-0DDB-5D40-AEAC-E7748B25BAA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8264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79AB9-0DDB-5D40-AEAC-E7748B25BAA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1030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79AB9-0DDB-5D40-AEAC-E7748B25BAA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8760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79AB9-0DDB-5D40-AEAC-E7748B25BAA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61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8930"/>
            <a:ext cx="2743200" cy="279070"/>
          </a:xfrm>
          <a:prstGeom prst="rect">
            <a:avLst/>
          </a:prstGeom>
        </p:spPr>
        <p:txBody>
          <a:bodyPr/>
          <a:lstStyle/>
          <a:p>
            <a:fld id="{F1A088F3-81BC-A44B-98DA-03E1F569B4CB}" type="datetimeFigureOut">
              <a:rPr lang="en-US" smtClean="0"/>
              <a:t>10/19/25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65D1EE-8AD0-F644-B2D5-AF00FB2C4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70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8930"/>
            <a:ext cx="2743200" cy="279070"/>
          </a:xfrm>
          <a:prstGeom prst="rect">
            <a:avLst/>
          </a:prstGeom>
        </p:spPr>
        <p:txBody>
          <a:bodyPr/>
          <a:lstStyle/>
          <a:p>
            <a:fld id="{F1A088F3-81BC-A44B-98DA-03E1F569B4CB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65D1EE-8AD0-F644-B2D5-AF00FB2C4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33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8930"/>
            <a:ext cx="2743200" cy="279070"/>
          </a:xfrm>
          <a:prstGeom prst="rect">
            <a:avLst/>
          </a:prstGeom>
        </p:spPr>
        <p:txBody>
          <a:bodyPr/>
          <a:lstStyle/>
          <a:p>
            <a:fld id="{F1A088F3-81BC-A44B-98DA-03E1F569B4CB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65D1EE-8AD0-F644-B2D5-AF00FB2C4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946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0" y="6578930"/>
            <a:ext cx="2743200" cy="279070"/>
          </a:xfrm>
          <a:prstGeom prst="rect">
            <a:avLst/>
          </a:prstGeom>
        </p:spPr>
        <p:txBody>
          <a:bodyPr/>
          <a:lstStyle/>
          <a:p>
            <a:fld id="{F1A088F3-81BC-A44B-98DA-03E1F569B4CB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65D1EE-8AD0-F644-B2D5-AF00FB2C4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914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0" y="6578930"/>
            <a:ext cx="2743200" cy="279070"/>
          </a:xfrm>
          <a:prstGeom prst="rect">
            <a:avLst/>
          </a:prstGeom>
        </p:spPr>
        <p:txBody>
          <a:bodyPr/>
          <a:lstStyle/>
          <a:p>
            <a:fld id="{F1A088F3-81BC-A44B-98DA-03E1F569B4CB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65D1EE-8AD0-F644-B2D5-AF00FB2C4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089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578930"/>
            <a:ext cx="2743200" cy="279070"/>
          </a:xfrm>
          <a:prstGeom prst="rect">
            <a:avLst/>
          </a:prstGeom>
        </p:spPr>
        <p:txBody>
          <a:bodyPr/>
          <a:lstStyle/>
          <a:p>
            <a:fld id="{F1A088F3-81BC-A44B-98DA-03E1F569B4CB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65D1EE-8AD0-F644-B2D5-AF00FB2C4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274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0" y="6578930"/>
            <a:ext cx="2743200" cy="279070"/>
          </a:xfrm>
          <a:prstGeom prst="rect">
            <a:avLst/>
          </a:prstGeom>
        </p:spPr>
        <p:txBody>
          <a:bodyPr/>
          <a:lstStyle/>
          <a:p>
            <a:fld id="{F1A088F3-81BC-A44B-98DA-03E1F569B4CB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65D1EE-8AD0-F644-B2D5-AF00FB2C4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487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0" y="6578930"/>
            <a:ext cx="2743200" cy="279070"/>
          </a:xfrm>
          <a:prstGeom prst="rect">
            <a:avLst/>
          </a:prstGeom>
        </p:spPr>
        <p:txBody>
          <a:bodyPr/>
          <a:lstStyle/>
          <a:p>
            <a:fld id="{F1A088F3-81BC-A44B-98DA-03E1F569B4CB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65D1EE-8AD0-F644-B2D5-AF00FB2C4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70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0" y="6578930"/>
            <a:ext cx="2743200" cy="279070"/>
          </a:xfrm>
          <a:prstGeom prst="rect">
            <a:avLst/>
          </a:prstGeom>
        </p:spPr>
        <p:txBody>
          <a:bodyPr/>
          <a:lstStyle/>
          <a:p>
            <a:fld id="{F1A088F3-81BC-A44B-98DA-03E1F569B4CB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65D1EE-8AD0-F644-B2D5-AF00FB2C4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841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8930"/>
            <a:ext cx="2743200" cy="279070"/>
          </a:xfrm>
          <a:prstGeom prst="rect">
            <a:avLst/>
          </a:prstGeom>
        </p:spPr>
        <p:txBody>
          <a:bodyPr/>
          <a:lstStyle/>
          <a:p>
            <a:fld id="{F1A088F3-81BC-A44B-98DA-03E1F569B4CB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65D1EE-8AD0-F644-B2D5-AF00FB2C4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734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8930"/>
            <a:ext cx="2743200" cy="279070"/>
          </a:xfrm>
          <a:prstGeom prst="rect">
            <a:avLst/>
          </a:prstGeom>
        </p:spPr>
        <p:txBody>
          <a:bodyPr/>
          <a:lstStyle/>
          <a:p>
            <a:fld id="{F1A088F3-81BC-A44B-98DA-03E1F569B4CB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65D1EE-8AD0-F644-B2D5-AF00FB2C40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042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9205B57-61EC-4026-6945-CA3040ECC299}"/>
              </a:ext>
            </a:extLst>
          </p:cNvPr>
          <p:cNvSpPr txBox="1">
            <a:spLocks/>
          </p:cNvSpPr>
          <p:nvPr userDrawn="1"/>
        </p:nvSpPr>
        <p:spPr>
          <a:xfrm>
            <a:off x="9448800" y="6578930"/>
            <a:ext cx="2743200" cy="2790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CS 46A 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149D6C0-B1DE-DC67-17ED-C04B425D1B9A}"/>
              </a:ext>
            </a:extLst>
          </p:cNvPr>
          <p:cNvSpPr txBox="1">
            <a:spLocks/>
          </p:cNvSpPr>
          <p:nvPr userDrawn="1"/>
        </p:nvSpPr>
        <p:spPr>
          <a:xfrm>
            <a:off x="0" y="6578930"/>
            <a:ext cx="2743200" cy="2790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Prof. Mike Wood</a:t>
            </a:r>
          </a:p>
        </p:txBody>
      </p:sp>
    </p:spTree>
    <p:extLst>
      <p:ext uri="{BB962C8B-B14F-4D97-AF65-F5344CB8AC3E}">
        <p14:creationId xmlns:p14="http://schemas.microsoft.com/office/powerpoint/2010/main" val="8149396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Iq9DzN6mvYA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check.io/files/23011016581ofi58ndtukm2sud78qfbe89f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check.io/files/23032305378g22394jd3vz30cbs7tg9mewf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D1AAC-FDD5-4540-02AC-72C64BC251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942" y="1214438"/>
            <a:ext cx="1151681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Lesson 8-2: </a:t>
            </a:r>
            <a:br>
              <a:rPr lang="en-US" dirty="0"/>
            </a:br>
            <a:r>
              <a:rPr lang="en-US" dirty="0"/>
              <a:t>Strings and Random Numbers (in Loops)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57054B-82A5-318C-71FE-999FE0130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12089"/>
          </a:xfrm>
        </p:spPr>
        <p:txBody>
          <a:bodyPr/>
          <a:lstStyle/>
          <a:p>
            <a:r>
              <a:rPr lang="en-US" dirty="0"/>
              <a:t>Computer Science 46A: Introduction to Programming</a:t>
            </a:r>
          </a:p>
          <a:p>
            <a:r>
              <a:rPr lang="en-US" dirty="0"/>
              <a:t>San José State University</a:t>
            </a:r>
          </a:p>
        </p:txBody>
      </p:sp>
    </p:spTree>
    <p:extLst>
      <p:ext uri="{BB962C8B-B14F-4D97-AF65-F5344CB8AC3E}">
        <p14:creationId xmlns:p14="http://schemas.microsoft.com/office/powerpoint/2010/main" val="3991297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16F25-DB7A-AC94-7BEA-9633DBB3E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094A4-9EF5-9BAE-DFC3-39C597737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23" y="1495840"/>
            <a:ext cx="10515600" cy="2862404"/>
          </a:xfrm>
        </p:spPr>
        <p:txBody>
          <a:bodyPr>
            <a:normAutofit/>
          </a:bodyPr>
          <a:lstStyle/>
          <a:p>
            <a:r>
              <a:rPr lang="en-US" dirty="0"/>
              <a:t>Homework #8 is due by midnight this Sunday (2/26)</a:t>
            </a:r>
          </a:p>
          <a:p>
            <a:r>
              <a:rPr lang="en-US" dirty="0"/>
              <a:t>Lab #7 is on Friday</a:t>
            </a:r>
          </a:p>
        </p:txBody>
      </p:sp>
    </p:spTree>
    <p:extLst>
      <p:ext uri="{BB962C8B-B14F-4D97-AF65-F5344CB8AC3E}">
        <p14:creationId xmlns:p14="http://schemas.microsoft.com/office/powerpoint/2010/main" val="329091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054E4-9586-3304-61AA-2655ABCB4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C6E39-C49F-F494-273D-CA332E869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20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By the end of this lesson, you should be able to:</a:t>
            </a:r>
          </a:p>
          <a:p>
            <a:pPr marL="514350" indent="-514350">
              <a:buAutoNum type="arabicPeriod"/>
            </a:pPr>
            <a:r>
              <a:rPr lang="en-US" dirty="0"/>
              <a:t>Format strings with space “padding”</a:t>
            </a:r>
          </a:p>
          <a:p>
            <a:pPr marL="514350" indent="-514350">
              <a:buAutoNum type="arabicPeriod"/>
            </a:pPr>
            <a:r>
              <a:rPr lang="en-US" dirty="0"/>
              <a:t>Generate random integers and doubles</a:t>
            </a:r>
          </a:p>
          <a:p>
            <a:pPr marL="514350" indent="-514350">
              <a:buAutoNum type="arabicPeriod"/>
            </a:pPr>
            <a:r>
              <a:rPr lang="en-US" dirty="0"/>
              <a:t>Generate a predictable set of random numbers using a “seed”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321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47D17-A6CC-C2EE-22F0-BDC79B926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289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 few more string formatting tips</a:t>
            </a:r>
          </a:p>
        </p:txBody>
      </p:sp>
    </p:spTree>
    <p:extLst>
      <p:ext uri="{BB962C8B-B14F-4D97-AF65-F5344CB8AC3E}">
        <p14:creationId xmlns:p14="http://schemas.microsoft.com/office/powerpoint/2010/main" val="1124315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2E33D-F4AF-8F3B-D9B0-75C3BF49C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Formatting doubles with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793C1-171E-B985-C73B-A1AFC1869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838" y="1825625"/>
            <a:ext cx="1130846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With the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/>
              <a:t> function, we can format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en-US" dirty="0"/>
              <a:t> type numbers in strings with a specified number of decimal places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example: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System.out.printf</a:t>
            </a:r>
            <a:r>
              <a:rPr lang="en-US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(“The square root of 2 is %.4f.”,Math.sqrt(2))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   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 square root of 2 is </a:t>
            </a:r>
            <a:r>
              <a:rPr lang="en-US" dirty="0">
                <a:solidFill>
                  <a:srgbClr val="00B0F0"/>
                </a:solidFill>
              </a:rPr>
              <a:t>1.4142.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7519B65-6DA2-6C78-34AE-752CE5FFC335}"/>
              </a:ext>
            </a:extLst>
          </p:cNvPr>
          <p:cNvCxnSpPr>
            <a:cxnSpLocks/>
          </p:cNvCxnSpPr>
          <p:nvPr/>
        </p:nvCxnSpPr>
        <p:spPr>
          <a:xfrm flipH="1" flipV="1">
            <a:off x="8472668" y="4178461"/>
            <a:ext cx="623206" cy="762507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7148A3B-B6AE-2809-F7B5-0CB5E70B5382}"/>
              </a:ext>
            </a:extLst>
          </p:cNvPr>
          <p:cNvSpPr txBox="1"/>
          <p:nvPr/>
        </p:nvSpPr>
        <p:spPr>
          <a:xfrm>
            <a:off x="8037095" y="5049085"/>
            <a:ext cx="34403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Number of decimal places</a:t>
            </a:r>
          </a:p>
        </p:txBody>
      </p:sp>
    </p:spTree>
    <p:extLst>
      <p:ext uri="{BB962C8B-B14F-4D97-AF65-F5344CB8AC3E}">
        <p14:creationId xmlns:p14="http://schemas.microsoft.com/office/powerpoint/2010/main" val="666697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30C6B-0A0A-D6BA-DC43-DCBC8502D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 Quiz: Question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0CBD72-2C57-2061-29E4-2E90CB8FC2DC}"/>
              </a:ext>
            </a:extLst>
          </p:cNvPr>
          <p:cNvSpPr txBox="1"/>
          <p:nvPr/>
        </p:nvSpPr>
        <p:spPr>
          <a:xfrm>
            <a:off x="1193042" y="2034869"/>
            <a:ext cx="8388835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Which of the following lines would print 3.14?</a:t>
            </a:r>
          </a:p>
          <a:p>
            <a:pPr marL="514350" indent="-514350">
              <a:buFont typeface="+mj-lt"/>
              <a:buAutoNum type="alphaLcParenR"/>
            </a:pPr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4350" indent="-514350">
              <a:buFont typeface="+mj-lt"/>
              <a:buAutoNum type="alphaLcParenR"/>
            </a:pPr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4350" indent="-514350">
              <a:buFont typeface="+mj-lt"/>
              <a:buAutoNum type="alphaLcParenR"/>
            </a:pP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System.out.printf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(“%.1f”, 3.14)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System.out.printf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(“%.3f”, 3.14)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System.out.printf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(“%.2f”, 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Math.PI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System.out.printf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(“%.3f”, 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Math.PI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20980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23517-A0C0-6B3E-DC25-C2E92DF52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Formatting integers with spaces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AF0534B-F688-B90C-316F-05EBD1CDD8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8467108"/>
              </p:ext>
            </p:extLst>
          </p:nvPr>
        </p:nvGraphicFramePr>
        <p:xfrm>
          <a:off x="1736364" y="5251303"/>
          <a:ext cx="946404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128242036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19633886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401180188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424374987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4463184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91050734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405164590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78193864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7714961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859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363107"/>
                  </a:ext>
                </a:extLst>
              </a:tr>
            </a:tbl>
          </a:graphicData>
        </a:graphic>
      </p:graphicFrame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A30CE607-0C9B-A5A4-747D-E216560AD7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7148328"/>
              </p:ext>
            </p:extLst>
          </p:nvPr>
        </p:nvGraphicFramePr>
        <p:xfrm>
          <a:off x="1736364" y="3175270"/>
          <a:ext cx="420624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321281129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28242036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19633886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4011801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859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3631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54C969C-7458-E389-5F84-BD452E952193}"/>
              </a:ext>
            </a:extLst>
          </p:cNvPr>
          <p:cNvSpPr txBox="1"/>
          <p:nvPr/>
        </p:nvSpPr>
        <p:spPr>
          <a:xfrm>
            <a:off x="1014470" y="2205958"/>
            <a:ext cx="106320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cs typeface="Consolas" panose="020B0609020204030204" pitchFamily="49" charset="0"/>
              </a:rPr>
              <a:t>Recall: We can format integers in strings with the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%d </a:t>
            </a:r>
            <a:r>
              <a:rPr lang="en-US" sz="2400" dirty="0">
                <a:cs typeface="Consolas" panose="020B0609020204030204" pitchFamily="49" charset="0"/>
              </a:rPr>
              <a:t>formatter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e.g.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System.out.printf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(“%d”, number)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ED38D4-34AB-2EE3-D030-D7FC029939A2}"/>
              </a:ext>
            </a:extLst>
          </p:cNvPr>
          <p:cNvSpPr txBox="1"/>
          <p:nvPr/>
        </p:nvSpPr>
        <p:spPr>
          <a:xfrm>
            <a:off x="1014470" y="1446277"/>
            <a:ext cx="8113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number = 3456;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CF1EE5-1BE5-E0DD-545B-A5BA46D2F71F}"/>
              </a:ext>
            </a:extLst>
          </p:cNvPr>
          <p:cNvSpPr txBox="1"/>
          <p:nvPr/>
        </p:nvSpPr>
        <p:spPr>
          <a:xfrm>
            <a:off x="1014470" y="4168628"/>
            <a:ext cx="106320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cs typeface="Consolas" panose="020B0609020204030204" pitchFamily="49" charset="0"/>
              </a:rPr>
              <a:t>We can “pad” integers with spaces with a number in the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%d </a:t>
            </a:r>
            <a:r>
              <a:rPr lang="en-US" sz="2400" dirty="0">
                <a:cs typeface="Consolas" panose="020B0609020204030204" pitchFamily="49" charset="0"/>
              </a:rPr>
              <a:t>formatter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e.g.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System.out.printf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(“%9d”, number)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2001C6-B39B-224B-4D3D-9B9D075F1604}"/>
              </a:ext>
            </a:extLst>
          </p:cNvPr>
          <p:cNvSpPr txBox="1"/>
          <p:nvPr/>
        </p:nvSpPr>
        <p:spPr>
          <a:xfrm>
            <a:off x="7042484" y="3164124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indices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F75E6F6-9443-9307-7786-3F727B6C43F3}"/>
              </a:ext>
            </a:extLst>
          </p:cNvPr>
          <p:cNvCxnSpPr>
            <a:cxnSpLocks/>
          </p:cNvCxnSpPr>
          <p:nvPr/>
        </p:nvCxnSpPr>
        <p:spPr>
          <a:xfrm flipH="1">
            <a:off x="6128084" y="3348790"/>
            <a:ext cx="9144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8FE4A74-86D8-5111-811C-96C15E01EC9E}"/>
              </a:ext>
            </a:extLst>
          </p:cNvPr>
          <p:cNvSpPr txBox="1"/>
          <p:nvPr/>
        </p:nvSpPr>
        <p:spPr>
          <a:xfrm>
            <a:off x="7042484" y="3547618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digits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1E3EB23-6E35-6898-9FA0-20CD6F900DAD}"/>
              </a:ext>
            </a:extLst>
          </p:cNvPr>
          <p:cNvCxnSpPr>
            <a:cxnSpLocks/>
          </p:cNvCxnSpPr>
          <p:nvPr/>
        </p:nvCxnSpPr>
        <p:spPr>
          <a:xfrm flipH="1">
            <a:off x="6128084" y="3732284"/>
            <a:ext cx="9144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79A48DB-7E12-2EDE-503C-D4D64FFFFE4C}"/>
              </a:ext>
            </a:extLst>
          </p:cNvPr>
          <p:cNvSpPr txBox="1"/>
          <p:nvPr/>
        </p:nvSpPr>
        <p:spPr>
          <a:xfrm>
            <a:off x="0" y="6308209"/>
            <a:ext cx="4181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See example code in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IntegerAlignment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574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23517-A0C0-6B3E-DC25-C2E92DF52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Formatting doubles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A30CE607-0C9B-A5A4-747D-E216560AD7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381468"/>
              </p:ext>
            </p:extLst>
          </p:nvPr>
        </p:nvGraphicFramePr>
        <p:xfrm>
          <a:off x="1736364" y="3175270"/>
          <a:ext cx="627977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6629">
                  <a:extLst>
                    <a:ext uri="{9D8B030D-6E8A-4147-A177-3AD203B41FA5}">
                      <a16:colId xmlns:a16="http://schemas.microsoft.com/office/drawing/2014/main" val="3212811293"/>
                    </a:ext>
                  </a:extLst>
                </a:gridCol>
                <a:gridCol w="1046629">
                  <a:extLst>
                    <a:ext uri="{9D8B030D-6E8A-4147-A177-3AD203B41FA5}">
                      <a16:colId xmlns:a16="http://schemas.microsoft.com/office/drawing/2014/main" val="1282420364"/>
                    </a:ext>
                  </a:extLst>
                </a:gridCol>
                <a:gridCol w="1046629">
                  <a:extLst>
                    <a:ext uri="{9D8B030D-6E8A-4147-A177-3AD203B41FA5}">
                      <a16:colId xmlns:a16="http://schemas.microsoft.com/office/drawing/2014/main" val="3196338865"/>
                    </a:ext>
                  </a:extLst>
                </a:gridCol>
                <a:gridCol w="1046629">
                  <a:extLst>
                    <a:ext uri="{9D8B030D-6E8A-4147-A177-3AD203B41FA5}">
                      <a16:colId xmlns:a16="http://schemas.microsoft.com/office/drawing/2014/main" val="4011801885"/>
                    </a:ext>
                  </a:extLst>
                </a:gridCol>
                <a:gridCol w="1046629">
                  <a:extLst>
                    <a:ext uri="{9D8B030D-6E8A-4147-A177-3AD203B41FA5}">
                      <a16:colId xmlns:a16="http://schemas.microsoft.com/office/drawing/2014/main" val="3492935424"/>
                    </a:ext>
                  </a:extLst>
                </a:gridCol>
                <a:gridCol w="1046629">
                  <a:extLst>
                    <a:ext uri="{9D8B030D-6E8A-4147-A177-3AD203B41FA5}">
                      <a16:colId xmlns:a16="http://schemas.microsoft.com/office/drawing/2014/main" val="20475643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859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3631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54C969C-7458-E389-5F84-BD452E952193}"/>
              </a:ext>
            </a:extLst>
          </p:cNvPr>
          <p:cNvSpPr txBox="1"/>
          <p:nvPr/>
        </p:nvSpPr>
        <p:spPr>
          <a:xfrm>
            <a:off x="1014470" y="2205958"/>
            <a:ext cx="106320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cs typeface="Consolas" panose="020B0609020204030204" pitchFamily="49" charset="0"/>
              </a:rPr>
              <a:t>Recall: We can format doubles in strings with the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%f </a:t>
            </a:r>
            <a:r>
              <a:rPr lang="en-US" sz="2400" dirty="0">
                <a:cs typeface="Consolas" panose="020B0609020204030204" pitchFamily="49" charset="0"/>
              </a:rPr>
              <a:t>formatter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e.g.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System.out.printf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(“%.2f”, number)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ED38D4-34AB-2EE3-D030-D7FC029939A2}"/>
              </a:ext>
            </a:extLst>
          </p:cNvPr>
          <p:cNvSpPr txBox="1"/>
          <p:nvPr/>
        </p:nvSpPr>
        <p:spPr>
          <a:xfrm>
            <a:off x="1014470" y="1446277"/>
            <a:ext cx="8113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double number = 3456.789;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2001C6-B39B-224B-4D3D-9B9D075F1604}"/>
              </a:ext>
            </a:extLst>
          </p:cNvPr>
          <p:cNvSpPr txBox="1"/>
          <p:nvPr/>
        </p:nvSpPr>
        <p:spPr>
          <a:xfrm>
            <a:off x="9618547" y="3136233"/>
            <a:ext cx="1625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decimal indices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F75E6F6-9443-9307-7786-3F727B6C43F3}"/>
              </a:ext>
            </a:extLst>
          </p:cNvPr>
          <p:cNvCxnSpPr>
            <a:cxnSpLocks/>
          </p:cNvCxnSpPr>
          <p:nvPr/>
        </p:nvCxnSpPr>
        <p:spPr>
          <a:xfrm flipH="1">
            <a:off x="8704147" y="3320899"/>
            <a:ext cx="9144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79A48DB-7E12-2EDE-503C-D4D64FFFFE4C}"/>
              </a:ext>
            </a:extLst>
          </p:cNvPr>
          <p:cNvSpPr txBox="1"/>
          <p:nvPr/>
        </p:nvSpPr>
        <p:spPr>
          <a:xfrm>
            <a:off x="0" y="6308209"/>
            <a:ext cx="4181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See example code in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DoubleAlignment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2A298FE0-AECE-93DC-C720-C114EE4781BE}"/>
              </a:ext>
            </a:extLst>
          </p:cNvPr>
          <p:cNvSpPr/>
          <p:nvPr/>
        </p:nvSpPr>
        <p:spPr>
          <a:xfrm rot="5400000">
            <a:off x="6754364" y="3258714"/>
            <a:ext cx="465221" cy="2058326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D3EE84-A4FC-6405-48C6-6D34C5F06BF6}"/>
              </a:ext>
            </a:extLst>
          </p:cNvPr>
          <p:cNvSpPr txBox="1"/>
          <p:nvPr/>
        </p:nvSpPr>
        <p:spPr>
          <a:xfrm>
            <a:off x="5986026" y="4565538"/>
            <a:ext cx="2001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Two decimal places</a:t>
            </a:r>
          </a:p>
        </p:txBody>
      </p:sp>
    </p:spTree>
    <p:extLst>
      <p:ext uri="{BB962C8B-B14F-4D97-AF65-F5344CB8AC3E}">
        <p14:creationId xmlns:p14="http://schemas.microsoft.com/office/powerpoint/2010/main" val="3469436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23517-A0C0-6B3E-DC25-C2E92DF52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Formatting doubles with spaces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AF0534B-F688-B90C-316F-05EBD1CDD8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9014283"/>
              </p:ext>
            </p:extLst>
          </p:nvPr>
        </p:nvGraphicFramePr>
        <p:xfrm>
          <a:off x="1014470" y="3238343"/>
          <a:ext cx="946404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128242036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19633886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401180188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424374987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4463184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91050734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405164590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78193864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7714961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859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36310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AED38D4-34AB-2EE3-D030-D7FC029939A2}"/>
              </a:ext>
            </a:extLst>
          </p:cNvPr>
          <p:cNvSpPr txBox="1"/>
          <p:nvPr/>
        </p:nvSpPr>
        <p:spPr>
          <a:xfrm>
            <a:off x="1014470" y="1446277"/>
            <a:ext cx="8113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double number = 3456.78;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CF1EE5-1BE5-E0DD-545B-A5BA46D2F71F}"/>
              </a:ext>
            </a:extLst>
          </p:cNvPr>
          <p:cNvSpPr txBox="1"/>
          <p:nvPr/>
        </p:nvSpPr>
        <p:spPr>
          <a:xfrm>
            <a:off x="1014470" y="2081485"/>
            <a:ext cx="106320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cs typeface="Consolas" panose="020B0609020204030204" pitchFamily="49" charset="0"/>
              </a:rPr>
              <a:t>We can “pad” doubles with spaces with a number in the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%f </a:t>
            </a:r>
            <a:r>
              <a:rPr lang="en-US" sz="2400" dirty="0">
                <a:cs typeface="Consolas" panose="020B0609020204030204" pitchFamily="49" charset="0"/>
              </a:rPr>
              <a:t>formatter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e.g.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System.out.printf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(“%9.2f”, number)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9A48DB-7E12-2EDE-503C-D4D64FFFFE4C}"/>
              </a:ext>
            </a:extLst>
          </p:cNvPr>
          <p:cNvSpPr txBox="1"/>
          <p:nvPr/>
        </p:nvSpPr>
        <p:spPr>
          <a:xfrm>
            <a:off x="0" y="6308209"/>
            <a:ext cx="4181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See example code in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DoubleAlignment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97F2F735-F77D-D3E1-4B4B-75CD8ECE9182}"/>
              </a:ext>
            </a:extLst>
          </p:cNvPr>
          <p:cNvSpPr/>
          <p:nvPr/>
        </p:nvSpPr>
        <p:spPr>
          <a:xfrm rot="5400000">
            <a:off x="5527989" y="654844"/>
            <a:ext cx="465221" cy="9492259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ACAE81-7BB5-711F-C770-3CE349597A48}"/>
              </a:ext>
            </a:extLst>
          </p:cNvPr>
          <p:cNvSpPr txBox="1"/>
          <p:nvPr/>
        </p:nvSpPr>
        <p:spPr>
          <a:xfrm>
            <a:off x="4501280" y="5728146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Nine possible characters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594639DF-D42F-D532-96B0-5C9CCAED7238}"/>
              </a:ext>
            </a:extLst>
          </p:cNvPr>
          <p:cNvSpPr/>
          <p:nvPr/>
        </p:nvSpPr>
        <p:spPr>
          <a:xfrm rot="5400000">
            <a:off x="9244953" y="3309350"/>
            <a:ext cx="465221" cy="2058326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30A4BC-5122-023E-2358-C70EB082F710}"/>
              </a:ext>
            </a:extLst>
          </p:cNvPr>
          <p:cNvSpPr txBox="1"/>
          <p:nvPr/>
        </p:nvSpPr>
        <p:spPr>
          <a:xfrm>
            <a:off x="8504832" y="4622912"/>
            <a:ext cx="2001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Two decimal places</a:t>
            </a:r>
          </a:p>
        </p:txBody>
      </p:sp>
    </p:spTree>
    <p:extLst>
      <p:ext uri="{BB962C8B-B14F-4D97-AF65-F5344CB8AC3E}">
        <p14:creationId xmlns:p14="http://schemas.microsoft.com/office/powerpoint/2010/main" val="1542126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C0E99-ED99-7AB0-B46E-F79559CD5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RotationMatrix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DBA079-C71F-5122-40F8-095B321349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188124" cy="4351338"/>
              </a:xfrm>
            </p:spPr>
            <p:txBody>
              <a:bodyPr/>
              <a:lstStyle/>
              <a:p>
                <a:r>
                  <a:rPr lang="en-US" dirty="0"/>
                  <a:t>In linear algebra, the rotation matrix (R) for an angle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is:</a:t>
                </a:r>
              </a:p>
              <a:p>
                <a:endParaRPr lang="en-US" sz="1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os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os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This matrix is used to rotate vectors in a plane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DBA079-C71F-5122-40F8-095B321349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188124" cy="4351338"/>
              </a:xfrm>
              <a:blipFill>
                <a:blip r:embed="rId3"/>
                <a:stretch>
                  <a:fillRect l="-2727" t="-2326" r="-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The rotation matrix for θ = 45.0 is&#10;|   0.707   -0.707|&#10;|   0.707    0.707|">
            <a:extLst>
              <a:ext uri="{FF2B5EF4-FFF2-40B4-BE49-F238E27FC236}">
                <a16:creationId xmlns:a16="http://schemas.microsoft.com/office/drawing/2014/main" id="{CA6BD134-7F5F-31BE-B8E0-20A9148FE4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6875" y="1957477"/>
            <a:ext cx="65024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148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47D17-A6CC-C2EE-22F0-BDC79B926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289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Random Numbers</a:t>
            </a:r>
          </a:p>
        </p:txBody>
      </p:sp>
    </p:spTree>
    <p:extLst>
      <p:ext uri="{BB962C8B-B14F-4D97-AF65-F5344CB8AC3E}">
        <p14:creationId xmlns:p14="http://schemas.microsoft.com/office/powerpoint/2010/main" val="3302826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9DDB5-0280-D52B-85C5-E568FA05B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CE97F-4211-077B-9833-C45F2B215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4671"/>
            <a:ext cx="10515600" cy="4007616"/>
          </a:xfrm>
        </p:spPr>
        <p:txBody>
          <a:bodyPr/>
          <a:lstStyle/>
          <a:p>
            <a:r>
              <a:rPr lang="en-US" dirty="0"/>
              <a:t>Often, we require randomly-generated numbers in our code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Encryption, Statistics, Code testing</a:t>
            </a:r>
          </a:p>
          <a:p>
            <a:r>
              <a:rPr lang="en-US" dirty="0"/>
              <a:t>To generate random numbers we use the Random class</a:t>
            </a:r>
          </a:p>
          <a:p>
            <a:r>
              <a:rPr lang="en-US" dirty="0"/>
              <a:t>First, we create a generator object:</a:t>
            </a:r>
          </a:p>
          <a:p>
            <a:pPr marL="457200" lvl="1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 generator = new Random();</a:t>
            </a:r>
          </a:p>
          <a:p>
            <a:r>
              <a:rPr lang="en-US" dirty="0"/>
              <a:t>Then, we can use the generator to produce our random numbers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generator.nextInt</a:t>
            </a:r>
            <a:r>
              <a:rPr lang="en-US" sz="28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(n);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577653-BBC5-D222-9BFD-4FF698BDBF2B}"/>
              </a:ext>
            </a:extLst>
          </p:cNvPr>
          <p:cNvSpPr txBox="1"/>
          <p:nvPr/>
        </p:nvSpPr>
        <p:spPr>
          <a:xfrm>
            <a:off x="1758723" y="5679789"/>
            <a:ext cx="99620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The </a:t>
            </a:r>
            <a:r>
              <a:rPr lang="en-US" sz="2400" dirty="0" err="1">
                <a:solidFill>
                  <a:srgbClr val="00B0F0"/>
                </a:solidFill>
              </a:rPr>
              <a:t>nextInt</a:t>
            </a:r>
            <a:r>
              <a:rPr lang="en-US" sz="2400" dirty="0">
                <a:solidFill>
                  <a:srgbClr val="00B0F0"/>
                </a:solidFill>
              </a:rPr>
              <a:t> method will provide a random number between 0 and n (</a:t>
            </a:r>
            <a:r>
              <a:rPr lang="en-US" sz="2400" dirty="0" err="1">
                <a:solidFill>
                  <a:srgbClr val="00B0F0"/>
                </a:solidFill>
              </a:rPr>
              <a:t>exlcusive</a:t>
            </a:r>
            <a:r>
              <a:rPr lang="en-US" sz="2400" dirty="0">
                <a:solidFill>
                  <a:srgbClr val="00B0F0"/>
                </a:solidFill>
              </a:rPr>
              <a:t>)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C3014756-21D1-646E-1394-9E646F2B17F2}"/>
              </a:ext>
            </a:extLst>
          </p:cNvPr>
          <p:cNvSpPr/>
          <p:nvPr/>
        </p:nvSpPr>
        <p:spPr>
          <a:xfrm rot="5400000">
            <a:off x="4401686" y="4468951"/>
            <a:ext cx="277896" cy="2143780"/>
          </a:xfrm>
          <a:prstGeom prst="rightBrace">
            <a:avLst/>
          </a:prstGeom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624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70A41-3BB3-A17E-664A-157A6D6F6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FlippingACoin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E2BF0-8018-CC44-CC0D-9B17C334F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375" y="1984024"/>
            <a:ext cx="5209851" cy="2035885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Code Description:</a:t>
            </a:r>
          </a:p>
          <a:p>
            <a:r>
              <a:rPr lang="en-US" dirty="0"/>
              <a:t>Flip a coin a given amount of times, counting the number of heads and tails as you go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B75F64-4D74-538C-1D45-79F5EA5A02E7}"/>
              </a:ext>
            </a:extLst>
          </p:cNvPr>
          <p:cNvSpPr txBox="1"/>
          <p:nvPr/>
        </p:nvSpPr>
        <p:spPr>
          <a:xfrm>
            <a:off x="6395847" y="5764731"/>
            <a:ext cx="5209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of the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FlippingACoin</a:t>
            </a:r>
            <a:r>
              <a:rPr lang="en-US" dirty="0"/>
              <a:t> class run 4 times</a:t>
            </a:r>
          </a:p>
        </p:txBody>
      </p:sp>
      <p:pic>
        <p:nvPicPr>
          <p:cNvPr id="8" name="Picture 7" descr="Flipping a coin 100 times...&#10;Number of heads: 53&#10;Number of tails: 47&#10;Flipping a coin 100 times...&#10;Number of heads: 54&#10;Number of tails: 46&#10;Flipping a coin 100 times...&#10;Number of heads: 51&#10;Number of tails: 49&#10;Flipping a coin 100 times...&#10;Number of heads: 55&#10;Number of tails: 45">
            <a:extLst>
              <a:ext uri="{FF2B5EF4-FFF2-40B4-BE49-F238E27FC236}">
                <a16:creationId xmlns:a16="http://schemas.microsoft.com/office/drawing/2014/main" id="{35CA5ABC-D4C5-0240-DCE1-F911E05A2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123" y="1690688"/>
            <a:ext cx="4315149" cy="40337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3673BCB-77C3-675A-565C-640121C71EE1}"/>
              </a:ext>
            </a:extLst>
          </p:cNvPr>
          <p:cNvSpPr txBox="1"/>
          <p:nvPr/>
        </p:nvSpPr>
        <p:spPr>
          <a:xfrm>
            <a:off x="586302" y="5664711"/>
            <a:ext cx="35648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you like stats and programming,</a:t>
            </a:r>
          </a:p>
          <a:p>
            <a:r>
              <a:rPr lang="en-US" dirty="0">
                <a:hlinkClick r:id="rId4"/>
              </a:rPr>
              <a:t>THIS VIDEO</a:t>
            </a:r>
            <a:r>
              <a:rPr lang="en-US" dirty="0"/>
              <a:t> is highly recommended!</a:t>
            </a:r>
          </a:p>
        </p:txBody>
      </p:sp>
    </p:spTree>
    <p:extLst>
      <p:ext uri="{BB962C8B-B14F-4D97-AF65-F5344CB8AC3E}">
        <p14:creationId xmlns:p14="http://schemas.microsoft.com/office/powerpoint/2010/main" val="1133206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7EF72-F69A-22A1-3D8E-DD5379FD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 Quiz: Question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5721C-F850-9EC4-E409-B9E667304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30637" cy="4670710"/>
          </a:xfrm>
        </p:spPr>
        <p:txBody>
          <a:bodyPr>
            <a:normAutofit/>
          </a:bodyPr>
          <a:lstStyle/>
          <a:p>
            <a:r>
              <a:rPr lang="en-US" dirty="0"/>
              <a:t>We can use </a:t>
            </a:r>
            <a:r>
              <a:rPr lang="en-US" sz="2800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generator.nextInt</a:t>
            </a:r>
            <a:r>
              <a:rPr lang="en-US" sz="28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(n)</a:t>
            </a:r>
            <a:r>
              <a:rPr lang="en-US" sz="2800" dirty="0">
                <a:cs typeface="Consolas" panose="020B0609020204030204" pitchFamily="49" charset="0"/>
              </a:rPr>
              <a:t> to generate a random number between 0 and n </a:t>
            </a:r>
            <a:r>
              <a:rPr lang="en-US" dirty="0">
                <a:cs typeface="Consolas" panose="020B0609020204030204" pitchFamily="49" charset="0"/>
              </a:rPr>
              <a:t>(exclusive)</a:t>
            </a:r>
            <a:r>
              <a:rPr lang="en-US" sz="2800" dirty="0">
                <a:cs typeface="Consolas" panose="020B0609020204030204" pitchFamily="49" charset="0"/>
              </a:rPr>
              <a:t>.</a:t>
            </a:r>
          </a:p>
          <a:p>
            <a:r>
              <a:rPr lang="en-US" dirty="0">
                <a:cs typeface="Consolas" panose="020B0609020204030204" pitchFamily="49" charset="0"/>
              </a:rPr>
              <a:t>How can we generate a random number between 7 and 17 (exclusive)?</a:t>
            </a:r>
          </a:p>
          <a:p>
            <a:endParaRPr lang="en-US" dirty="0">
              <a:cs typeface="Consolas" panose="020B0609020204030204" pitchFamily="49" charset="0"/>
            </a:endParaRPr>
          </a:p>
          <a:p>
            <a:pPr marL="742950" indent="-742950">
              <a:buFont typeface="+mj-lt"/>
              <a:buAutoNum type="alphaLcParenR"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generator.nextInt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(7,17)</a:t>
            </a:r>
          </a:p>
          <a:p>
            <a:pPr marL="742950" indent="-742950">
              <a:buFont typeface="+mj-lt"/>
              <a:buAutoNum type="alphaLcParenR"/>
            </a:pPr>
            <a:r>
              <a:rPr lang="en-US" dirty="0"/>
              <a:t>7 +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generator.nextInt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(17)</a:t>
            </a:r>
          </a:p>
          <a:p>
            <a:pPr marL="742950" indent="-742950">
              <a:buFont typeface="+mj-lt"/>
              <a:buAutoNum type="alphaLcParenR"/>
            </a:pPr>
            <a:r>
              <a:rPr lang="en-US" dirty="0"/>
              <a:t>17 +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generator.nextInt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(7)</a:t>
            </a:r>
          </a:p>
          <a:p>
            <a:pPr marL="742950" indent="-742950">
              <a:buFont typeface="+mj-lt"/>
              <a:buAutoNum type="alphaLcParenR"/>
            </a:pPr>
            <a:r>
              <a:rPr lang="en-US" dirty="0"/>
              <a:t>7 +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generator.nextInt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415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70A41-3BB3-A17E-664A-157A6D6F6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RandomTriangle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E2BF0-8018-CC44-CC0D-9B17C334F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375" y="1832355"/>
            <a:ext cx="6193043" cy="4351338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Code Description:</a:t>
            </a:r>
          </a:p>
          <a:p>
            <a:r>
              <a:rPr lang="en-US" dirty="0"/>
              <a:t>Draw a triangle with indices given at random points such that</a:t>
            </a:r>
          </a:p>
          <a:p>
            <a:pPr lvl="1"/>
            <a:r>
              <a:rPr lang="en-US" dirty="0"/>
              <a:t>0 &lt; x &lt; 200</a:t>
            </a:r>
          </a:p>
          <a:p>
            <a:pPr lvl="1"/>
            <a:r>
              <a:rPr lang="en-US" dirty="0"/>
              <a:t>0 &lt; y &lt; 400</a:t>
            </a:r>
          </a:p>
          <a:p>
            <a:r>
              <a:rPr lang="en-US" dirty="0"/>
              <a:t>Print coordinates to the screen</a:t>
            </a:r>
          </a:p>
        </p:txBody>
      </p:sp>
      <p:pic>
        <p:nvPicPr>
          <p:cNvPr id="5" name="Picture 4" descr="Image of a triangle at random coordinates">
            <a:extLst>
              <a:ext uri="{FF2B5EF4-FFF2-40B4-BE49-F238E27FC236}">
                <a16:creationId xmlns:a16="http://schemas.microsoft.com/office/drawing/2014/main" id="{8CDB92DC-CEF8-0FDD-2D6E-A7EE578BC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348" y="2143973"/>
            <a:ext cx="1854654" cy="3208051"/>
          </a:xfrm>
          <a:prstGeom prst="rect">
            <a:avLst/>
          </a:prstGeom>
        </p:spPr>
      </p:pic>
      <p:pic>
        <p:nvPicPr>
          <p:cNvPr id="6" name="Picture 5" descr="Point 1: (178, 94)&#10;Point 2: (34, 249)&#10;Point 3: (105, 313)&#10;">
            <a:extLst>
              <a:ext uri="{FF2B5EF4-FFF2-40B4-BE49-F238E27FC236}">
                <a16:creationId xmlns:a16="http://schemas.microsoft.com/office/drawing/2014/main" id="{CEB5F0B9-26EC-2532-59F3-03C2A2B4B5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1932" y="2143973"/>
            <a:ext cx="2590800" cy="1016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B75F64-4D74-538C-1D45-79F5EA5A02E7}"/>
              </a:ext>
            </a:extLst>
          </p:cNvPr>
          <p:cNvSpPr txBox="1"/>
          <p:nvPr/>
        </p:nvSpPr>
        <p:spPr>
          <a:xfrm>
            <a:off x="9221932" y="3513362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of the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RandomTriangle</a:t>
            </a:r>
            <a:r>
              <a:rPr lang="en-US" dirty="0"/>
              <a:t> class</a:t>
            </a:r>
          </a:p>
        </p:txBody>
      </p:sp>
    </p:spTree>
    <p:extLst>
      <p:ext uri="{BB962C8B-B14F-4D97-AF65-F5344CB8AC3E}">
        <p14:creationId xmlns:p14="http://schemas.microsoft.com/office/powerpoint/2010/main" val="3182610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38394-2E28-18C2-2A31-A9A79BD5A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Predictable Set of Random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E35FF-C592-7372-23EB-293CB2C2B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76085"/>
          </a:xfrm>
        </p:spPr>
        <p:txBody>
          <a:bodyPr/>
          <a:lstStyle/>
          <a:p>
            <a:r>
              <a:rPr lang="en-US" dirty="0"/>
              <a:t>Each time you use a generator to produce random numbers, it provides a unique selection of random numbers</a:t>
            </a:r>
          </a:p>
          <a:p>
            <a:r>
              <a:rPr lang="en-US" dirty="0"/>
              <a:t>Each time you run the code, the random numbers will change</a:t>
            </a:r>
          </a:p>
          <a:p>
            <a:r>
              <a:rPr lang="en-US" dirty="0"/>
              <a:t>If you want a predictable set of random numbers, construct your generator using a “seed” – an integer value that specifies a specific set of random numbers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int seed = 10; 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en-US" sz="28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example</a:t>
            </a:r>
            <a:endParaRPr lang="en-US" dirty="0"/>
          </a:p>
          <a:p>
            <a:pPr marL="0" indent="0">
              <a:buNone/>
            </a:pPr>
            <a:r>
              <a:rPr lang="en-US" sz="28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Random generator = new Random(seed);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72E885-AF7A-1A92-0C69-0538FD0F46E4}"/>
              </a:ext>
            </a:extLst>
          </p:cNvPr>
          <p:cNvSpPr txBox="1"/>
          <p:nvPr/>
        </p:nvSpPr>
        <p:spPr>
          <a:xfrm>
            <a:off x="126125" y="6199852"/>
            <a:ext cx="3980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See example code in  </a:t>
            </a:r>
            <a:r>
              <a:rPr lang="en-US" b="1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RandomTriangle</a:t>
            </a:r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073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FDE8B-2C72-3AA7-6621-2987DB5B5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439" y="363978"/>
            <a:ext cx="11221122" cy="1325563"/>
          </a:xfrm>
        </p:spPr>
        <p:txBody>
          <a:bodyPr/>
          <a:lstStyle/>
          <a:p>
            <a:r>
              <a:rPr lang="en-US" dirty="0"/>
              <a:t>Participation Exercise 8-2a:</a:t>
            </a:r>
            <a:r>
              <a:rPr lang="en-US" dirty="0">
                <a:solidFill>
                  <a:srgbClr val="00B050"/>
                </a:solidFill>
                <a:latin typeface="+mn-lt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MultiplicationTable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061D8E-6320-7CA9-6704-B297775397D9}"/>
              </a:ext>
            </a:extLst>
          </p:cNvPr>
          <p:cNvSpPr txBox="1"/>
          <p:nvPr/>
        </p:nvSpPr>
        <p:spPr>
          <a:xfrm>
            <a:off x="838200" y="6123543"/>
            <a:ext cx="3652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Codecheck</a:t>
            </a:r>
            <a:r>
              <a:rPr lang="en-US" dirty="0"/>
              <a:t> Link: </a:t>
            </a:r>
            <a:r>
              <a:rPr lang="en-US" dirty="0">
                <a:hlinkClick r:id="rId3"/>
              </a:rPr>
              <a:t>HERE</a:t>
            </a:r>
            <a:r>
              <a:rPr lang="en-US" dirty="0"/>
              <a:t> and on Canvas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E86F73-91E1-A552-83D5-9AC6AA811C0D}"/>
              </a:ext>
            </a:extLst>
          </p:cNvPr>
          <p:cNvSpPr txBox="1"/>
          <p:nvPr/>
        </p:nvSpPr>
        <p:spPr>
          <a:xfrm>
            <a:off x="7098746" y="4875996"/>
            <a:ext cx="39405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Output of </a:t>
            </a:r>
            <a:r>
              <a:rPr lang="en-US" sz="20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MultiplicationTable</a:t>
            </a:r>
            <a:endParaRPr lang="en-US" sz="20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EDA920-5F25-3F82-809E-50ACA03BC8D0}"/>
              </a:ext>
            </a:extLst>
          </p:cNvPr>
          <p:cNvSpPr txBox="1"/>
          <p:nvPr/>
        </p:nvSpPr>
        <p:spPr>
          <a:xfrm>
            <a:off x="1108038" y="2202467"/>
            <a:ext cx="47264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Goal</a:t>
            </a:r>
            <a:r>
              <a:rPr lang="en-US" sz="2400" dirty="0"/>
              <a:t>: Create a multiplication table such as the one displayed at the right</a:t>
            </a:r>
          </a:p>
        </p:txBody>
      </p:sp>
      <p:pic>
        <p:nvPicPr>
          <p:cNvPr id="3" name="Picture 2" descr="An image of a multiplication table with all pairs of numbers such that each is between 1 and 10">
            <a:extLst>
              <a:ext uri="{FF2B5EF4-FFF2-40B4-BE49-F238E27FC236}">
                <a16:creationId xmlns:a16="http://schemas.microsoft.com/office/drawing/2014/main" id="{1EAC5A13-E12A-FB71-E373-69B2D3D555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547" y="1929596"/>
            <a:ext cx="5422900" cy="29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0445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FDE8B-2C72-3AA7-6621-2987DB5B5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439" y="363978"/>
            <a:ext cx="11221122" cy="1325563"/>
          </a:xfrm>
        </p:spPr>
        <p:txBody>
          <a:bodyPr/>
          <a:lstStyle/>
          <a:p>
            <a:r>
              <a:rPr lang="en-US" dirty="0"/>
              <a:t>Participation Exercise 8-2b:</a:t>
            </a:r>
            <a:r>
              <a:rPr lang="en-US" dirty="0">
                <a:solidFill>
                  <a:srgbClr val="00B050"/>
                </a:solidFill>
                <a:latin typeface="+mn-lt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RandomNumbersWithASeed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061D8E-6320-7CA9-6704-B297775397D9}"/>
              </a:ext>
            </a:extLst>
          </p:cNvPr>
          <p:cNvSpPr txBox="1"/>
          <p:nvPr/>
        </p:nvSpPr>
        <p:spPr>
          <a:xfrm>
            <a:off x="838200" y="6123543"/>
            <a:ext cx="3652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Codecheck</a:t>
            </a:r>
            <a:r>
              <a:rPr lang="en-US" dirty="0"/>
              <a:t> Link: </a:t>
            </a:r>
            <a:r>
              <a:rPr lang="en-US" dirty="0">
                <a:hlinkClick r:id="rId3"/>
              </a:rPr>
              <a:t>HERE</a:t>
            </a:r>
            <a:r>
              <a:rPr lang="en-US" dirty="0"/>
              <a:t> and on Canvas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E86F73-91E1-A552-83D5-9AC6AA811C0D}"/>
              </a:ext>
            </a:extLst>
          </p:cNvPr>
          <p:cNvSpPr txBox="1"/>
          <p:nvPr/>
        </p:nvSpPr>
        <p:spPr>
          <a:xfrm>
            <a:off x="6470878" y="3089846"/>
            <a:ext cx="4363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Output of </a:t>
            </a:r>
            <a:r>
              <a:rPr lang="en-US" sz="20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RandomNumbersWithASeed</a:t>
            </a:r>
            <a:endParaRPr lang="en-US" sz="20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EDA920-5F25-3F82-809E-50ACA03BC8D0}"/>
              </a:ext>
            </a:extLst>
          </p:cNvPr>
          <p:cNvSpPr txBox="1"/>
          <p:nvPr/>
        </p:nvSpPr>
        <p:spPr>
          <a:xfrm>
            <a:off x="670156" y="2202467"/>
            <a:ext cx="472641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Goal</a:t>
            </a:r>
            <a:r>
              <a:rPr lang="en-US" sz="2400" dirty="0"/>
              <a:t>: Create a list of random numbers with values between 45 and 55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00B0F0"/>
                </a:solidFill>
              </a:rPr>
              <a:t>Use the SEED to ensure your values match the values shown at the right </a:t>
            </a:r>
          </a:p>
        </p:txBody>
      </p:sp>
      <p:pic>
        <p:nvPicPr>
          <p:cNvPr id="3" name="Picture 2" descr="Enter the count of random numbers: 5&#10; 54 50 46 51 54">
            <a:extLst>
              <a:ext uri="{FF2B5EF4-FFF2-40B4-BE49-F238E27FC236}">
                <a16:creationId xmlns:a16="http://schemas.microsoft.com/office/drawing/2014/main" id="{8C21F06B-B2D4-CCD0-67B5-68609D2DCE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9094" y="2202467"/>
            <a:ext cx="6117467" cy="77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991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3565</TotalTime>
  <Words>870</Words>
  <Application>Microsoft Macintosh PowerPoint</Application>
  <PresentationFormat>Widescreen</PresentationFormat>
  <Paragraphs>173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Consolas</vt:lpstr>
      <vt:lpstr>Office Theme</vt:lpstr>
      <vt:lpstr>Lesson 8-2:  Strings and Random Numbers (in Loops)</vt:lpstr>
      <vt:lpstr>Announcements</vt:lpstr>
      <vt:lpstr>Learning Objectives</vt:lpstr>
      <vt:lpstr>A few more string formatting tips</vt:lpstr>
      <vt:lpstr>Recall: Formatting doubles with printf</vt:lpstr>
      <vt:lpstr>Pop Quiz: Question 1</vt:lpstr>
      <vt:lpstr>Formatting integers with spaces</vt:lpstr>
      <vt:lpstr>Formatting doubles</vt:lpstr>
      <vt:lpstr>Formatting doubles with spaces</vt:lpstr>
      <vt:lpstr>Example: RotationMatrix</vt:lpstr>
      <vt:lpstr>Random Numbers</vt:lpstr>
      <vt:lpstr>Random Numbers</vt:lpstr>
      <vt:lpstr>Example: FlippingACoin</vt:lpstr>
      <vt:lpstr>Pop Quiz: Question 2</vt:lpstr>
      <vt:lpstr>Example: RandomTriangle</vt:lpstr>
      <vt:lpstr>A Predictable Set of Random Numbers</vt:lpstr>
      <vt:lpstr>Participation Exercise 8-2a: MultiplicationTable</vt:lpstr>
      <vt:lpstr>Participation Exercise 8-2b: RandomNumbersWithASeed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1: Introduction</dc:title>
  <dc:creator>Wood, Michael H (US 329C)</dc:creator>
  <cp:lastModifiedBy>chung-wen Tsao</cp:lastModifiedBy>
  <cp:revision>136</cp:revision>
  <dcterms:created xsi:type="dcterms:W3CDTF">2022-09-22T19:26:00Z</dcterms:created>
  <dcterms:modified xsi:type="dcterms:W3CDTF">2025-10-20T16:26:52Z</dcterms:modified>
</cp:coreProperties>
</file>